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/>
    <p:restoredTop sz="94659"/>
  </p:normalViewPr>
  <p:slideViewPr>
    <p:cSldViewPr snapToGrid="0">
      <p:cViewPr varScale="1">
        <p:scale>
          <a:sx n="110" d="100"/>
          <a:sy n="110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9D7C-313D-B9ED-B4D2-4490ADCAD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C6DBE-D7BE-CB0F-4F01-7C16E822E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B051D-2581-6260-4BC2-59F5E843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5117C-11FE-600F-14A9-56794F37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0273-ABE1-3CE3-D527-E6A77F0B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2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65E6-9BB3-9239-0672-81306EA3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2D9E-9260-CF1F-6DB0-2E3E654F1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1A42C-DBCD-932F-D538-48D38A96E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C9CB6-F8C6-CE7C-862D-580000A4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EFEA6-7875-103F-E7DB-7F7D4772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8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46DF-6988-469C-4997-153B09BA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CA317-191F-140B-296B-F0F8C4E6E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DE1EF-51EC-E022-58B5-3D3327831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E3A85-E8BF-1BD3-567B-1BB88B8F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4961A-257F-E80A-61AB-CE1C027F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85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EB8D-3679-C7CE-94B3-DB086510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2589-71E4-8F8B-0110-1033E6707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AC281-BF01-B14D-795E-1B3CB2595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68A2-0F73-75EE-31D7-AC471BA7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43C16-CC52-B9D3-6D1D-F313A8995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EF00-A3AF-4902-AE0A-0A7B07C0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3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4E90-5E09-FF21-AC7E-7FC528F6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CF3BB-6AD6-603A-2EC1-7B19D76DD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98736-F267-608A-7284-4F890956C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36440-CDAE-FD4E-A6A4-98E4A1F58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4C38B-D2EE-936F-1140-F1327E210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F1764-5E7F-19B8-376A-1D86DEEC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A8F8F-47AB-9DA1-A940-8A9F8639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11E3-D42B-62B0-1221-E15D35B6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83C7-F548-2FCB-1BEE-A13C6A6D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36D861-AEC3-EDCD-9DF3-63B64A4F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CDBBB-B1CF-E5F8-809A-726FEA78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5D130-F5F6-024C-CFEC-41C11480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3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EA423-C756-1799-97B5-9A1123B2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68057-E2B1-DA99-A164-93680183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1045D-250D-E515-36C7-F0285730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9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001F1-5E8F-04DA-2977-A4B06ACC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32E8E-A8CA-F083-5C4C-9BCCEF71B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09B99-2FF4-D393-9EFB-80FEEB12B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07C24-E889-0A2B-CA47-71504A79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F49DD-765F-5953-9B26-E0360D8A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5113F-7DCE-512E-91E3-65AEF3A6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4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0A7D-E366-D007-03BC-326B5355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5524E-FA6A-AE75-6C85-4A4D019C3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20E55-E9A4-378C-6D80-85B6DC198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D1B4A-D111-7DC7-CF60-2CD1A3A1E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9CFC7-AC16-380A-31CC-7CA9A5D6E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751B1-D2A4-5D8D-5F26-09BEFBBF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6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98DF-AF75-97B0-E329-E339B46C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A904D-5790-BE5A-B2BD-A17E19A9F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ED885-24C5-B5CC-0501-1ED3E4B3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A9E3F-09ED-D539-E18C-C4CD209F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04B5C-231E-CCC2-7E57-8872D043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D70C6-5FE7-DA98-1205-65C18EF65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9854B-8E5A-48F9-72E8-059B0F443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4A0F9-48E2-6ED0-EFF2-6E897F74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8893B-528D-0F00-54C4-EEA0099D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9779-E0BB-DC3C-ECAB-272C1565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7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E59AF-5E90-0A25-7434-28641C56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C496C-8EDA-A162-2249-57C50283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E80A8-CB59-6B3A-4673-03EEA541F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7FB66-66F9-BF46-97A3-FB400C3CFD44}" type="datetimeFigureOut"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98C1D-2111-5DE8-D509-D22E0C9E3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340E2-DE0A-A490-96B6-358327D42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24396-0030-A94C-B3F8-D145EF4147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7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3D8C-FA1C-EB88-5106-EA53F6F263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11-06-2026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0ECFA-75F0-4CDF-6B10-CECBE80ABA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ML project discussion</a:t>
            </a:r>
          </a:p>
        </p:txBody>
      </p:sp>
    </p:spTree>
    <p:extLst>
      <p:ext uri="{BB962C8B-B14F-4D97-AF65-F5344CB8AC3E}">
        <p14:creationId xmlns:p14="http://schemas.microsoft.com/office/powerpoint/2010/main" val="162616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932759-7768-2C17-DEE5-FA9088FFB2F2}"/>
              </a:ext>
            </a:extLst>
          </p:cNvPr>
          <p:cNvSpPr/>
          <p:nvPr/>
        </p:nvSpPr>
        <p:spPr>
          <a:xfrm>
            <a:off x="694481" y="300941"/>
            <a:ext cx="5231757" cy="6192455"/>
          </a:xfrm>
          <a:prstGeom prst="roundRect">
            <a:avLst>
              <a:gd name="adj" fmla="val 470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83652B-598E-51DB-8960-46550F87143E}"/>
              </a:ext>
            </a:extLst>
          </p:cNvPr>
          <p:cNvSpPr/>
          <p:nvPr/>
        </p:nvSpPr>
        <p:spPr>
          <a:xfrm>
            <a:off x="6229109" y="332772"/>
            <a:ext cx="5231757" cy="6192455"/>
          </a:xfrm>
          <a:prstGeom prst="roundRect">
            <a:avLst>
              <a:gd name="adj" fmla="val 47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95366-5228-9571-7F3C-E6EEA132B437}"/>
              </a:ext>
            </a:extLst>
          </p:cNvPr>
          <p:cNvSpPr txBox="1"/>
          <p:nvPr/>
        </p:nvSpPr>
        <p:spPr>
          <a:xfrm>
            <a:off x="856527" y="509286"/>
            <a:ext cx="15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Observations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831B7-63FC-520F-6B80-22114AB045C9}"/>
              </a:ext>
            </a:extLst>
          </p:cNvPr>
          <p:cNvSpPr txBox="1"/>
          <p:nvPr/>
        </p:nvSpPr>
        <p:spPr>
          <a:xfrm>
            <a:off x="6460603" y="509286"/>
            <a:ext cx="1388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Encounters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55E3C-C1AB-4359-4192-EBBF21791F9F}"/>
              </a:ext>
            </a:extLst>
          </p:cNvPr>
          <p:cNvSpPr txBox="1"/>
          <p:nvPr/>
        </p:nvSpPr>
        <p:spPr>
          <a:xfrm>
            <a:off x="6460603" y="1145893"/>
            <a:ext cx="4768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/>
              <a:t>Examples</a:t>
            </a:r>
            <a:r>
              <a:rPr lang="en-US"/>
              <a:t>: Encounter for 'check-up’, Outpatient procedure, Follow-up visit (procedure), Telephone encounter (procedure) , etc.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B4EC0-1ABC-213E-2193-579FB7D39576}"/>
              </a:ext>
            </a:extLst>
          </p:cNvPr>
          <p:cNvSpPr txBox="1"/>
          <p:nvPr/>
        </p:nvSpPr>
        <p:spPr>
          <a:xfrm>
            <a:off x="962628" y="1118733"/>
            <a:ext cx="4768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/>
              <a:t>Examples</a:t>
            </a:r>
            <a:r>
              <a:rPr lang="en-US"/>
              <a:t>: 1</a:t>
            </a:r>
          </a:p>
          <a:p>
            <a:r>
              <a:rPr lang="en-US"/>
              <a:t>Body Height, BMI, Heart Rate, Systolic Blood Pressure, Triglycerides, Total Cholesterol, Heart Rate,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052D5-6B20-2C06-C088-759BFFAFEB60}"/>
              </a:ext>
            </a:extLst>
          </p:cNvPr>
          <p:cNvSpPr txBox="1"/>
          <p:nvPr/>
        </p:nvSpPr>
        <p:spPr>
          <a:xfrm>
            <a:off x="6460603" y="2559178"/>
            <a:ext cx="476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/>
              <a:t>Total</a:t>
            </a:r>
            <a:r>
              <a:rPr lang="en-US"/>
              <a:t>: 285,339 rows. Avg 80.6 encounters per patient. Median 48 encounters per patient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211479-1265-83D9-8563-E2DD6374172F}"/>
              </a:ext>
            </a:extLst>
          </p:cNvPr>
          <p:cNvSpPr txBox="1"/>
          <p:nvPr/>
        </p:nvSpPr>
        <p:spPr>
          <a:xfrm>
            <a:off x="925974" y="2559178"/>
            <a:ext cx="476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/>
              <a:t>Total</a:t>
            </a:r>
            <a:r>
              <a:rPr lang="en-US"/>
              <a:t>: 1480409 rows. Avg 418 encounters per patient. Median 242 encounters per patient.</a:t>
            </a:r>
          </a:p>
        </p:txBody>
      </p:sp>
    </p:spTree>
    <p:extLst>
      <p:ext uri="{BB962C8B-B14F-4D97-AF65-F5344CB8AC3E}">
        <p14:creationId xmlns:p14="http://schemas.microsoft.com/office/powerpoint/2010/main" val="181231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E1C3-6C69-551C-FD51-8F83DDE9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D226746-C0A4-9809-5913-39A7BA676172}"/>
              </a:ext>
            </a:extLst>
          </p:cNvPr>
          <p:cNvSpPr/>
          <p:nvPr/>
        </p:nvSpPr>
        <p:spPr>
          <a:xfrm>
            <a:off x="694481" y="300941"/>
            <a:ext cx="5231757" cy="6192455"/>
          </a:xfrm>
          <a:prstGeom prst="roundRect">
            <a:avLst>
              <a:gd name="adj" fmla="val 470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74BDDA-7487-E4A0-12FC-12046B6B2DB5}"/>
              </a:ext>
            </a:extLst>
          </p:cNvPr>
          <p:cNvSpPr/>
          <p:nvPr/>
        </p:nvSpPr>
        <p:spPr>
          <a:xfrm>
            <a:off x="6229109" y="332772"/>
            <a:ext cx="5231757" cy="6192455"/>
          </a:xfrm>
          <a:prstGeom prst="roundRect">
            <a:avLst>
              <a:gd name="adj" fmla="val 47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4AC32-A0ED-D2C2-85ED-AC1592D1B14E}"/>
              </a:ext>
            </a:extLst>
          </p:cNvPr>
          <p:cNvSpPr txBox="1"/>
          <p:nvPr/>
        </p:nvSpPr>
        <p:spPr>
          <a:xfrm>
            <a:off x="856527" y="509286"/>
            <a:ext cx="15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Observations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8D60B-8211-4C3C-84AC-9BC3AEDD48E6}"/>
              </a:ext>
            </a:extLst>
          </p:cNvPr>
          <p:cNvSpPr txBox="1"/>
          <p:nvPr/>
        </p:nvSpPr>
        <p:spPr>
          <a:xfrm>
            <a:off x="6460603" y="509286"/>
            <a:ext cx="1388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Encounters</a:t>
            </a:r>
          </a:p>
        </p:txBody>
      </p:sp>
      <p:pic>
        <p:nvPicPr>
          <p:cNvPr id="10" name="Picture 9" descr="A graph of a graph of a number of individuals&#10;&#10;AI-generated content may be incorrect.">
            <a:extLst>
              <a:ext uri="{FF2B5EF4-FFF2-40B4-BE49-F238E27FC236}">
                <a16:creationId xmlns:a16="http://schemas.microsoft.com/office/drawing/2014/main" id="{A9EFF9E8-5D86-6EF6-D961-E9CF81FA9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918" y="878618"/>
            <a:ext cx="4462693" cy="2661958"/>
          </a:xfrm>
          <a:prstGeom prst="rect">
            <a:avLst/>
          </a:prstGeom>
        </p:spPr>
      </p:pic>
      <p:pic>
        <p:nvPicPr>
          <p:cNvPr id="15" name="Picture 14" descr="A graph of a number of encounters before first cvd&#10;&#10;AI-generated content may be incorrect.">
            <a:extLst>
              <a:ext uri="{FF2B5EF4-FFF2-40B4-BE49-F238E27FC236}">
                <a16:creationId xmlns:a16="http://schemas.microsoft.com/office/drawing/2014/main" id="{62FD4709-83AE-6FFE-9081-55885B7E4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916" y="3686756"/>
            <a:ext cx="4462695" cy="26619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2AF933-93CF-F00A-79B7-5F42BD8FC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012" y="878619"/>
            <a:ext cx="4462693" cy="26619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25DE62-9432-25B8-500A-B22A6057C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012" y="3686007"/>
            <a:ext cx="4462692" cy="26619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DE5DC0-176E-F194-1E7C-0C043BE839E3}"/>
              </a:ext>
            </a:extLst>
          </p:cNvPr>
          <p:cNvSpPr txBox="1"/>
          <p:nvPr/>
        </p:nvSpPr>
        <p:spPr>
          <a:xfrm>
            <a:off x="1551007" y="1024049"/>
            <a:ext cx="1529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Mean: 2100</a:t>
            </a:r>
          </a:p>
          <a:p>
            <a:r>
              <a:rPr lang="en-US"/>
              <a:t>Median: 2283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BBFFA7-C1AA-5764-59D3-A68648C04813}"/>
              </a:ext>
            </a:extLst>
          </p:cNvPr>
          <p:cNvSpPr txBox="1"/>
          <p:nvPr/>
        </p:nvSpPr>
        <p:spPr>
          <a:xfrm>
            <a:off x="4025635" y="3795088"/>
            <a:ext cx="1406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/>
              <a:t>Mean: 257</a:t>
            </a:r>
          </a:p>
          <a:p>
            <a:pPr algn="r"/>
            <a:r>
              <a:rPr lang="en-US"/>
              <a:t>Median: 138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FF59DD-77A0-7972-6ED2-B881BF26912E}"/>
              </a:ext>
            </a:extLst>
          </p:cNvPr>
          <p:cNvSpPr txBox="1"/>
          <p:nvPr/>
        </p:nvSpPr>
        <p:spPr>
          <a:xfrm>
            <a:off x="7022423" y="1024048"/>
            <a:ext cx="1653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Mean: 16883</a:t>
            </a:r>
          </a:p>
          <a:p>
            <a:r>
              <a:rPr lang="en-US"/>
              <a:t>Median: 17570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DCB9F2-87F8-6735-1752-9CDC59C66563}"/>
              </a:ext>
            </a:extLst>
          </p:cNvPr>
          <p:cNvSpPr txBox="1"/>
          <p:nvPr/>
        </p:nvSpPr>
        <p:spPr>
          <a:xfrm>
            <a:off x="9664386" y="3795087"/>
            <a:ext cx="1282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/>
              <a:t>Mean: 50</a:t>
            </a:r>
          </a:p>
          <a:p>
            <a:pPr algn="r"/>
            <a:r>
              <a:rPr lang="en-US"/>
              <a:t>Median: 27</a:t>
            </a:r>
          </a:p>
        </p:txBody>
      </p:sp>
    </p:spTree>
    <p:extLst>
      <p:ext uri="{BB962C8B-B14F-4D97-AF65-F5344CB8AC3E}">
        <p14:creationId xmlns:p14="http://schemas.microsoft.com/office/powerpoint/2010/main" val="231466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0811-3852-1A36-FAF1-716A9FFC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15" y="1337399"/>
            <a:ext cx="4706073" cy="1325563"/>
          </a:xfrm>
        </p:spPr>
        <p:txBody>
          <a:bodyPr>
            <a:normAutofit fontScale="90000"/>
          </a:bodyPr>
          <a:lstStyle/>
          <a:p>
            <a:r>
              <a:rPr lang="en-US" sz="3000"/>
              <a:t>Not all patients will have every observation – should we make a cutoff of patient coverage for an observation to be included?</a:t>
            </a:r>
          </a:p>
        </p:txBody>
      </p:sp>
      <p:pic>
        <p:nvPicPr>
          <p:cNvPr id="5" name="Picture 4" descr="A graph of a number of patients with a given observation&#10;&#10;AI-generated content may be incorrect.">
            <a:extLst>
              <a:ext uri="{FF2B5EF4-FFF2-40B4-BE49-F238E27FC236}">
                <a16:creationId xmlns:a16="http://schemas.microsoft.com/office/drawing/2014/main" id="{1A1F4B6D-4053-1059-4E53-DB70E8F7B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1" y="2865216"/>
            <a:ext cx="4695029" cy="265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11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135</Words>
  <Application>Microsoft Macintosh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11-06-2026</vt:lpstr>
      <vt:lpstr>PowerPoint Presentation</vt:lpstr>
      <vt:lpstr>PowerPoint Presentation</vt:lpstr>
      <vt:lpstr>Not all patients will have every observation – should we make a cutoff of patient coverage for an observation to be included?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Kearney, Sophie K</dc:creator>
  <cp:lastModifiedBy>Kearney, Sophie K</cp:lastModifiedBy>
  <cp:revision>3</cp:revision>
  <dcterms:created xsi:type="dcterms:W3CDTF">2025-11-04T23:04:01Z</dcterms:created>
  <dcterms:modified xsi:type="dcterms:W3CDTF">2025-11-06T18:40:56Z</dcterms:modified>
</cp:coreProperties>
</file>